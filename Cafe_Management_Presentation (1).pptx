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315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☕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74320" y="23774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297680" y="822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Cafe Management System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97680" y="1417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+  MySQL  +  Tkinter GUI  +  PDF Bill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874520"/>
            <a:ext cx="420624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103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7784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0" y="2606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7784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[Roll Number]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3108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7784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[College Name]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0" y="3611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77840" y="3611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 Project in Computer Science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Introduction &amp; Problem Statement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749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Background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Cafes and restaurants in India face challenges managing large order volumes manually. Paper-based billing systems lead to: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Calculation errors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Lost order records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business analytics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Slow customer 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End-of-day reconciliation issues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3749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Proposed Solution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digital Cafe Management System that: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Automates order-taking and billing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Calculates GST automatically (5%)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Generates PDF bills instantly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Stores all data in MySQL database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Provides real-time sales reports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staff access control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Project Objectives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1691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73152" cy="16916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Application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 desktop app with Tkinter dark-themed GUI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743200" cy="1691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97280"/>
            <a:ext cx="73152" cy="16916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965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 storage with 5 normalized tables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743200" cy="1691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097280"/>
            <a:ext cx="73152" cy="16916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55080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1965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with MD5 password hashing and role-based access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2743200" cy="1691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17520"/>
            <a:ext cx="73152" cy="16916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11480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System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886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cart with quantity management and GST auto-calc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3017520"/>
            <a:ext cx="2743200" cy="1691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3017520"/>
            <a:ext cx="73152" cy="16916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383280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Bills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3886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A4 PDF bill generation using ReportLab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3017520"/>
            <a:ext cx="2743200" cy="1691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017520"/>
            <a:ext cx="73152" cy="16916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55080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5080" y="3886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with top items and 7-day revenue trends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Technologies Used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56692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91440" cy="566928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5214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120700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programming language. OOP-based architecture.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755648"/>
            <a:ext cx="8595360" cy="56692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755648"/>
            <a:ext cx="91440" cy="566928"/>
          </a:xfrm>
          <a:prstGeom prst="rect">
            <a:avLst/>
          </a:prstGeom>
          <a:solidFill>
            <a:srgbClr val="00618A"/>
          </a:solidFill>
          <a:ln w="12700">
            <a:solidFill>
              <a:srgbClr val="0061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1051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18470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186537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database. 5 tables, ACID-compliant transactions.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414016"/>
            <a:ext cx="8595360" cy="56692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414016"/>
            <a:ext cx="91440" cy="56692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68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🖼️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250545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+ ttk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252374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Python GUI framework. Dark-themed modern UI.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072384"/>
            <a:ext cx="8595360" cy="56692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072384"/>
            <a:ext cx="91440" cy="5669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272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43000" y="316382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4640" y="318211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 library. Creates professional A4 bills.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730752"/>
            <a:ext cx="8595360" cy="56692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730752"/>
            <a:ext cx="91440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8561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43000" y="38221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mysql-connector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384048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Python-MySQL bridge. Parameterized queries, connection pool.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389120"/>
            <a:ext cx="8595360" cy="56692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389120"/>
            <a:ext cx="91440" cy="566928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44398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💻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143000" y="4480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IDLE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834640" y="449884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IDE. Git version control for source management.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System Architecture (3-Tier)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3840480"/>
          </a:xfrm>
          <a:prstGeom prst="rect">
            <a:avLst/>
          </a:prstGeom>
          <a:solidFill>
            <a:srgbClr val="0F3460"/>
          </a:solidFill>
          <a:ln w="254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PRESENTATION LAYER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2468880" cy="0"/>
          </a:xfrm>
          <a:prstGeom prst="line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45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LoginWindow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1214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MainApp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59689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OrderPage (POS)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307238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OrdersPage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5478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MenuPage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4023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ReportsPage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4988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UsersPage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63240" y="2926080"/>
            <a:ext cx="16459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005840"/>
            <a:ext cx="2743200" cy="3840480"/>
          </a:xfrm>
          <a:prstGeom prst="rect">
            <a:avLst/>
          </a:prstGeom>
          <a:solidFill>
            <a:srgbClr val="0F3460"/>
          </a:solidFill>
          <a:ln w="25400">
            <a:solidFill>
              <a:srgbClr val="F4D0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1051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BUSINESS LOGIC LAYER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83280" y="1554480"/>
            <a:ext cx="2468880" cy="0"/>
          </a:xfrm>
          <a:prstGeom prst="line">
            <a:avLst/>
          </a:prstGeom>
          <a:noFill/>
          <a:ln w="12700">
            <a:solidFill>
              <a:srgbClr val="F4D0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645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 Processing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3280" y="21214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Cart Management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83280" y="259689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GST Calculation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83280" y="307238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 Bill Generator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83280" y="35478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Authentication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83280" y="4023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Access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2926080"/>
            <a:ext cx="16459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005840"/>
            <a:ext cx="2743200" cy="3840480"/>
          </a:xfrm>
          <a:prstGeom prst="rect">
            <a:avLst/>
          </a:prstGeom>
          <a:solidFill>
            <a:srgbClr val="0F3460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09360" y="1051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 LAYER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55080" y="1554480"/>
            <a:ext cx="2468880" cy="0"/>
          </a:xfrm>
          <a:prstGeom prst="line">
            <a:avLst/>
          </a:prstGeom>
          <a:noFill/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1645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MySQL Database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55080" y="21214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 table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55080" y="259689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menu_items table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55080" y="307238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orders table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55080" y="35478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order_items table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55080" y="4023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expenses table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communicates through Python function calls and mysql-connector-python queries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 Design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423160" cy="2304288"/>
          </a:xfrm>
          <a:prstGeom prst="rect">
            <a:avLst/>
          </a:prstGeom>
          <a:solidFill>
            <a:srgbClr val="0F3460"/>
          </a:solidFill>
          <a:ln w="190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423160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42416"/>
            <a:ext cx="2313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40817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id (PK)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72821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full_name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204825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username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236829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password (MD5)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" y="268833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role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300837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is_active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37560" y="1005840"/>
            <a:ext cx="2423160" cy="2304288"/>
          </a:xfrm>
          <a:prstGeom prst="rect">
            <a:avLst/>
          </a:prstGeom>
          <a:solidFill>
            <a:srgbClr val="0F3460"/>
          </a:solidFill>
          <a:ln w="190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005840"/>
            <a:ext cx="2423160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1042416"/>
            <a:ext cx="2313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menu_items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10712" y="140817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id (PK)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10712" y="172821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name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10712" y="204825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category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10712" y="236829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price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10712" y="268833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description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10712" y="300837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is_available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46520" y="1005840"/>
            <a:ext cx="2423160" cy="2944368"/>
          </a:xfrm>
          <a:prstGeom prst="rect">
            <a:avLst/>
          </a:prstGeom>
          <a:solidFill>
            <a:srgbClr val="0F3460"/>
          </a:solidFill>
          <a:ln w="190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6520" y="1005840"/>
            <a:ext cx="2423160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9672" y="1042416"/>
            <a:ext cx="2313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19672" y="140817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id (PK)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519672" y="172821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bill_no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519672" y="204825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customer_name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519672" y="236829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subtotal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519672" y="268833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gst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519672" y="300837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total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19672" y="332841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status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519672" y="364845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user_id (FK)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200400"/>
            <a:ext cx="2423160" cy="2304288"/>
          </a:xfrm>
          <a:prstGeom prst="rect">
            <a:avLst/>
          </a:prstGeom>
          <a:solidFill>
            <a:srgbClr val="0F3460"/>
          </a:solidFill>
          <a:ln w="190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200400"/>
            <a:ext cx="2423160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236976"/>
            <a:ext cx="2313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7472" y="360273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id (PK)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7472" y="392277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order_id (FK)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47472" y="424281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item_id (FK)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7472" y="456285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item_name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7472" y="488289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quantity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47472" y="5202936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price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212080" y="3200400"/>
            <a:ext cx="3657600" cy="2304288"/>
          </a:xfrm>
          <a:prstGeom prst="rect">
            <a:avLst/>
          </a:prstGeom>
          <a:solidFill>
            <a:srgbClr val="0F3460"/>
          </a:solidFill>
          <a:ln w="190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212080" y="3200400"/>
            <a:ext cx="3657600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85232" y="3236976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85232" y="3602736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id (PK)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285232" y="3922776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title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285232" y="4242816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amount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285232" y="4562856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category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285232" y="4882896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expense_date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285232" y="5202936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user_id (FK)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Primary Key    🔗 Foreign Key    Relationships: orders → order_items (1:N)  |  users → orders (1:N)  |  menu_items → order_items (1:N)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Key Features &amp; Modules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91440" cy="8229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344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1704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password hashing + role-based access (Admin, Manager, Cashier)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6052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91440" cy="82296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2344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11704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System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3-column layout: Categories | Menu Grid | Shopping Cart with GST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057400"/>
            <a:ext cx="416052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057400"/>
            <a:ext cx="91440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1945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🍽️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21305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Management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468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Add/Edit/Delete menu items. 5 categories with availability toggle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057400"/>
            <a:ext cx="416052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057400"/>
            <a:ext cx="91440" cy="822960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1945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21305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2468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orders, filter by date, view details, reprint/cancel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017520"/>
            <a:ext cx="416052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017520"/>
            <a:ext cx="91440" cy="822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1546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30906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Bill Generator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3429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A4 PDF bills using ReportLab – saved automatically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017520"/>
            <a:ext cx="416052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017520"/>
            <a:ext cx="91440" cy="8229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1546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94960" y="30906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Dashboard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3429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 cards, top selling items, 7-day revenue chart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977640"/>
            <a:ext cx="416052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977640"/>
            <a:ext cx="91440" cy="8229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41148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4400" y="40507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4389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Add/edit/deactivate staff accounts with role assignment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977640"/>
            <a:ext cx="416052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977640"/>
            <a:ext cx="91440" cy="822960"/>
          </a:xfrm>
          <a:prstGeom prst="rect">
            <a:avLst/>
          </a:prstGeom>
          <a:solidFill>
            <a:srgbClr val="00618A"/>
          </a:solidFill>
          <a:ln w="12700">
            <a:solidFill>
              <a:srgbClr val="0061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41148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394960" y="40507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Integration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94960" y="4389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normalized tables with foreign keys, views, and sample data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GUI Screens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1828800"/>
          </a:xfrm>
          <a:prstGeom prst="rect">
            <a:avLst/>
          </a:prstGeom>
          <a:solidFill>
            <a:srgbClr val="0F3460"/>
          </a:solidFill>
          <a:ln w="254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560320" cy="5029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Login Screen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764792"/>
            <a:ext cx="237744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084832"/>
            <a:ext cx="210312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404872"/>
            <a:ext cx="182880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4144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Password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authentication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743200" cy="1828800"/>
          </a:xfrm>
          <a:prstGeom prst="rect">
            <a:avLst/>
          </a:prstGeom>
          <a:solidFill>
            <a:srgbClr val="0F3460"/>
          </a:solidFill>
          <a:ln w="25400">
            <a:solidFill>
              <a:srgbClr val="F4D0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143000"/>
            <a:ext cx="2560320" cy="50292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188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POS / Order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1764792"/>
            <a:ext cx="237744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2084832"/>
            <a:ext cx="210312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2404872"/>
            <a:ext cx="182880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44144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grid cards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with live totals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auto-calc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17920" y="1051560"/>
            <a:ext cx="2743200" cy="1828800"/>
          </a:xfrm>
          <a:prstGeom prst="rect">
            <a:avLst/>
          </a:prstGeom>
          <a:solidFill>
            <a:srgbClr val="0F3460"/>
          </a:solidFill>
          <a:ln w="25400">
            <a:solidFill>
              <a:srgbClr val="A8DA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143000"/>
            <a:ext cx="2560320" cy="502920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188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Order History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55080" y="1764792"/>
            <a:ext cx="237744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2084832"/>
            <a:ext cx="210312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2404872"/>
            <a:ext cx="182880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44144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item details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Reprint / Cancel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063240"/>
            <a:ext cx="2743200" cy="1828800"/>
          </a:xfrm>
          <a:prstGeom prst="rect">
            <a:avLst/>
          </a:prstGeom>
          <a:solidFill>
            <a:srgbClr val="0F3460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154680"/>
            <a:ext cx="256032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200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Menu Manager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3776472"/>
            <a:ext cx="237744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096512"/>
            <a:ext cx="210312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416552"/>
            <a:ext cx="182880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4531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Add/Edit/Delete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categories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availability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46120" y="3063240"/>
            <a:ext cx="2743200" cy="1828800"/>
          </a:xfrm>
          <a:prstGeom prst="rect">
            <a:avLst/>
          </a:prstGeom>
          <a:solidFill>
            <a:srgbClr val="0F3460"/>
          </a:solidFill>
          <a:ln w="254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37560" y="3154680"/>
            <a:ext cx="256032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3200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Reports Dashboard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83280" y="3776472"/>
            <a:ext cx="237744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3280" y="4096512"/>
            <a:ext cx="210312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83280" y="4416552"/>
            <a:ext cx="182880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44531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selling items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revenue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17920" y="3063240"/>
            <a:ext cx="2743200" cy="1828800"/>
          </a:xfrm>
          <a:prstGeom prst="rect">
            <a:avLst/>
          </a:prstGeom>
          <a:solidFill>
            <a:srgbClr val="0F3460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09360" y="3154680"/>
            <a:ext cx="2560320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200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PDF Bill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55080" y="3776472"/>
            <a:ext cx="237744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4096512"/>
            <a:ext cx="210312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5080" y="4416552"/>
            <a:ext cx="182880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44531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professional bill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breakdown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 to /bills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PDF Bill Generation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206240" cy="5943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CAFE MANAGER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123, MG Road, Lucknow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No: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600200" y="16642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BILL-10042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2920" y="18928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00200" y="18928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Kumar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02920" y="21214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600200" y="21214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02920" y="23500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600200" y="23500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16/03/2025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3931920" cy="0"/>
          </a:xfrm>
          <a:prstGeom prst="line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6974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            Qty   Price   Amount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75488" y="289864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Cappuccino      2     ₹80     ₹160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75488" y="309981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Brownie         1     ₹100    ₹100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75488" y="330098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 Coffee     1     ₹120    ₹120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57200" y="3547872"/>
            <a:ext cx="3931920" cy="0"/>
          </a:xfrm>
          <a:prstGeom prst="line">
            <a:avLst/>
          </a:prstGeom>
          <a:noFill/>
          <a:ln w="6350">
            <a:solidFill>
              <a:srgbClr val="7F8C8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359359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337560" y="35935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₹380.00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011680" y="381304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(5%)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337560" y="381304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₹19.00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011680" y="403250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37560" y="403250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₹399.00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4617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visiting! ☕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46320" y="1005840"/>
            <a:ext cx="4023360" cy="3931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3776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PDF Features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83480" y="15087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Professional A4 format with margins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83480" y="184708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Cafe header with name &amp; address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83480" y="218541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Unique bill number (BILL-XXXXX)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83480" y="25237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Customer name and table number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83480" y="286207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Date and time stamp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83480" y="320040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Itemized table with quantities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83480" y="3538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Subtotal + GST breakdown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83480" y="387705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 Grand total in highlighted font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83480" y="421538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 Thank you footer message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83480" y="45537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Auto-saved to /bills/ folder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Testing &amp;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46120" y="10515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4920" y="10515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52360" y="10515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8595360" cy="329184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26464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– Valid Credentials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46120" y="142646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admin123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74920" y="142646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opens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452360" y="142646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737360"/>
            <a:ext cx="8595360" cy="32918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73936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– Invalid Credentials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46120" y="177393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/ wrongpass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74920" y="177393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dialog shown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52360" y="177393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084832"/>
            <a:ext cx="8595360" cy="329184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12140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 to Cart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46120" y="21214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menu card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74920" y="21214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added to cart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452360" y="212140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432304"/>
            <a:ext cx="8595360" cy="32918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46888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Calculation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46120" y="24688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₹200 order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74920" y="24688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GST, ₹210 total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452360" y="246888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779776"/>
            <a:ext cx="8595360" cy="329184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81635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46120" y="281635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+ customer name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74920" y="281635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saved in DB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452360" y="281635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127248"/>
            <a:ext cx="8595360" cy="32918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163824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Bill Generation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46120" y="316382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placing order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74920" y="316382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BILL-XXXXX.pdf created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452360" y="316382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474720"/>
            <a:ext cx="8595360" cy="329184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511296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Menu Item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246120" y="351129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with name/price/category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074920" y="351129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appears in menu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452360" y="351129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3822192"/>
            <a:ext cx="8595360" cy="32918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85876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Order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46120" y="385876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order → Cancel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074920" y="38587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cancelled in DB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452360" y="385876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4169664"/>
            <a:ext cx="8595360" cy="329184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420624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Load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246120" y="42062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Reports page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074920" y="42062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tables populated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452360" y="420624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4517136"/>
            <a:ext cx="8595360" cy="32918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455371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246120" y="455371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cashier user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074920" y="455371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saved in DB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452360" y="455371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Scope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8686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91440" cy="8686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Inventory Management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ingredients, raw materials, low-stock alerts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60520" cy="8686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91440" cy="86868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4904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Android/iOS companion app via REST API (Flask/FastAPI)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039112"/>
            <a:ext cx="4160520" cy="8686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039112"/>
            <a:ext cx="91440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30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Database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4780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 / Firebase for multi-branch data sync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039112"/>
            <a:ext cx="4160520" cy="8686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039112"/>
            <a:ext cx="91440" cy="868680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130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Advanced Analytics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4780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with matplotlib/plotly, revenue forecasting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026664"/>
            <a:ext cx="4160520" cy="8686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26664"/>
            <a:ext cx="9144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181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WhatsApp/Email Bill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4655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PDF bill via WhatsApp API or email automatically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026664"/>
            <a:ext cx="4160520" cy="8686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026664"/>
            <a:ext cx="91440" cy="8686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1181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Enhanced Security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4655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tokens, bcrypt hashing, session management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014216"/>
            <a:ext cx="4160520" cy="8686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014216"/>
            <a:ext cx="91440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056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Loyalty Program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4531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points system, discount coupons, memberships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4014216"/>
            <a:ext cx="4160520" cy="8686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4014216"/>
            <a:ext cx="91440" cy="8686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1056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👨‍💼  HR &amp; Payroll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44531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attendance, shift management, salary processing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79392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☕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88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457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0584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Full-featured POS system with cart and GST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50876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Professional PDF bill generation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201168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MySQL database with 5 normalized tables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251460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Role-based access control (Admin/Manager/Cashier)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Real-time sales reporting and KPI dashboard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352044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Modular, extensible OOP codebase (~750 lines)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402336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Tested across 10 use-case scenarios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452628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Ready for real-world cafe deployment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470916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[Your Name] | Roll No: [Your Roll No]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Cafe Management System</dc:title>
  <dc:subject>PptxGenJS Presentation</dc:subject>
  <dc:creator>Student</dc:creator>
  <cp:lastModifiedBy>Student</cp:lastModifiedBy>
  <cp:revision>1</cp:revision>
  <dcterms:created xsi:type="dcterms:W3CDTF">2026-03-16T05:38:39Z</dcterms:created>
  <dcterms:modified xsi:type="dcterms:W3CDTF">2026-03-16T05:38:39Z</dcterms:modified>
</cp:coreProperties>
</file>